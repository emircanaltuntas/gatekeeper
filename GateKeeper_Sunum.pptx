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ECC71"/>
                </a:solidFill>
              </a:defRPr>
            </a:pPr>
            <a:r>
              <a:t>GateKeeper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</a:defRPr>
            </a:pPr>
            <a:r>
              <a:t>SimPy Tabanlı Ağ Geçidi Trafik ve Güvenlik Simülasyonu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</a:defRPr>
            </a:pPr>
            <a:r>
              <a:t>Benzetim Programları Dersi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</a:defRPr>
            </a:pPr>
            <a:r>
              <a:t>Mersin Üniversitesi — Bilişim Sistemleri ve Teknolojileri (CTIS)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</a:defRPr>
            </a:pPr>
            <a:r>
              <a:t>Ahmet Feyzi Gülmez — 21430070039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</a:defRPr>
            </a:pPr>
            <a:r>
              <a:t>Emircan Altuntaş — 22430070020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</a:defRPr>
            </a:pPr>
            <a:r>
              <a:t>Ahmet Duran Gökçe — 21430070043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</a:defRPr>
            </a:pPr>
            <a:r>
              <a:t>2025 – 2026 Akademik Yılı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Giriş ve Motivasyon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Ağ derslerinde teorik olarak gördüğümüz kavramları somut bir simülasyonla görmek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"Kuyruk dolunca ne olur?" sorusuna çalışan bir modelle cevap vermek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Kuyruk yapıları, paket önceliklendirme ve drop mekanizmalarını deneyimlemek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Öncelik tabanlı kuyruklarda kritik trafiğin korunup korunmadığını test etmek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ECC71"/>
                </a:solidFill>
              </a:defRPr>
            </a:pPr>
            <a:r>
              <a:t>Hedef: Farklı öncelik seviyelerine sahip paketlerin sınırlı kapasiteli bir</a:t>
            </a:r>
          </a:p>
          <a:p>
            <a:pPr>
              <a:spcAft>
                <a:spcPts val="800"/>
              </a:spcAft>
              <a:defRPr sz="1800">
                <a:solidFill>
                  <a:srgbClr val="2ECC71"/>
                </a:solidFill>
              </a:defRPr>
            </a:pPr>
            <a:r>
              <a:t>ağ geçidinden geçerken nasıl davrandığını simüle etmek.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Tanımı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Gerçek hayatta bir ağ geçidi sınırlı kapasiteye sahiptir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Aynı anda işleyebileceği paket sayısı bellidir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Kuyrukta bekleyebilecek paket sayısının bir üst limiti vardır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Trafik yoğunlaştığında bazı paketlerin düşürülmesi (drop) kaçınılmaz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Kritik soru: Hangi paketler düşürülecek?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Rastgele drop → kritik yönetim paketi de gidebilir!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Çözüm: Öncelik tabanlı katmanlı drop politikası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Paket Türleri ve Parametreler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</a:defRPr>
            </a:pPr>
            <a:r>
              <a:t>Paket Türü          Öncelik       Ort. Geliş Aralığı     Açıklama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18288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ECC71"/>
                </a:solidFill>
              </a:defRPr>
            </a:pPr>
            <a:r>
              <a:t>Admin              0 (en yüksek)     8.0 birim              Yönetici komutları, asla drop edilmez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498DB"/>
                </a:solidFill>
              </a:defRPr>
            </a:pPr>
            <a:r>
              <a:t>Normal             1                        2.0 birim              Standart kullanıcı trafiği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74C3C"/>
                </a:solidFill>
              </a:defRPr>
            </a:pPr>
            <a:r>
              <a:t>Şüpheli            2 (en düşük)     1.2 birim              Potansiyel tehdit, ilk drop edilen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Simülasyon Parametreleri: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Sunucu Kapasitesi: 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Kuyruk Sınırı: 10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Simülasyon Süresi: 200 birim zaman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Şüpheli Drop Eşiği: kuyruk &gt; 10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Normal Drop Eşiği: kuyruk &gt;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Veri Üretimi — Stokastik Trafik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Hazır veri seti kullanılmadı — trafik stokastik olarak üretiliyor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Paket geliş aralıkları: Üstel dağılım (Exponential Distribution)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Neden üstel? → Gerçek ağ trafiği büyük ölçüde bu dağılıma uyar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Deterministik üretim yapay sonuçlar verirdi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Her paket türü bağımsız bir üretim sürecine sahip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CCCCDD"/>
                </a:solidFill>
              </a:defRPr>
            </a:pPr>
            <a:r>
              <a:t>  random.expovariate(1/λ) fonksiyonu ile geliş aralıkları hesaplanıyor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ECC71"/>
                </a:solidFill>
              </a:defRPr>
            </a:pPr>
            <a:r>
              <a:t>f(x) = λe^(-λx)  →  Üstel dağılım olasılık yoğunluk fonksiyonu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Mimari ve Teknoloji Yığını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SimPy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Ayrık olay simülasyon motoru — PriorityResource ile öncelikli kuyruk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Python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Üstel dağılım ile paket geliş aralıkları üretimi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Ortalama bekleme süresi ve drop oranı hesaplama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İnteraktif web arayüzü — slider, buton, metrik kartları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Plotly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Dinamik grafikler — çizgi, pasta, bar, ısı haritası, scatter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Kod Yapısı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ECC71"/>
                </a:solidFill>
              </a:defRPr>
            </a:pPr>
            <a:r>
              <a:t>AgGecidi Sınıfı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CCCCDD"/>
                </a:solidFill>
              </a:defRPr>
            </a:pPr>
            <a:r>
              <a:t>  SimPy PriorityResource kaynağını yönetir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CCCCDD"/>
                </a:solidFill>
              </a:defRPr>
            </a:pPr>
            <a:r>
              <a:t>  İstatistik sayaçlarını tutar (işlenen, drop, bekleme)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CCCCDD"/>
                </a:solidFill>
              </a:defRPr>
            </a:pPr>
            <a:r>
              <a:t>  Kuyruk doluluk takibi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CCCCDD"/>
                </a:solidFill>
              </a:defRPr>
            </a:pPr>
            <a:r>
              <a:t>  Drop kararı mantığını içerir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498DB"/>
                </a:solidFill>
              </a:defRPr>
            </a:pPr>
            <a:r>
              <a:t>PaketUretici Sınıfı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CCCCDD"/>
                </a:solidFill>
              </a:defRPr>
            </a:pPr>
            <a:r>
              <a:t>  Her paket türü için bağımsız üretim süreci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CCCCDD"/>
                </a:solidFill>
              </a:defRPr>
            </a:pPr>
            <a:r>
              <a:t>  Üstel dağılıma göre geliş aralığı üretir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CCCCDD"/>
                </a:solidFill>
              </a:defRPr>
            </a:pPr>
            <a:r>
              <a:t>  Paket işleme sürecini yönetir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CCCCDD"/>
                </a:solidFill>
              </a:defRPr>
            </a:pPr>
            <a:r>
              <a:t>  Drop veya işleme olaylarını kaydeder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Drop Politikası: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39C12"/>
                </a:solidFill>
              </a:defRPr>
            </a:pPr>
            <a:r>
              <a:t>kuyruk ≥ 10  →  Şüpheli paketi düşür</a:t>
            </a:r>
          </a:p>
          <a:p>
            <a:pPr>
              <a:spcAft>
                <a:spcPts val="800"/>
              </a:spcAft>
              <a:defRPr sz="1800">
                <a:solidFill>
                  <a:srgbClr val="F39C12"/>
                </a:solidFill>
              </a:defRPr>
            </a:pPr>
            <a:r>
              <a:t>kuyruk ≥ 13  →  Normal paketi de düşür</a:t>
            </a:r>
          </a:p>
          <a:p>
            <a:pPr>
              <a:spcAft>
                <a:spcPts val="800"/>
              </a:spcAft>
              <a:defRPr sz="1800">
                <a:solidFill>
                  <a:srgbClr val="F39C12"/>
                </a:solidFill>
              </a:defRPr>
            </a:pPr>
            <a:r>
              <a:t>Admin paketi  →  Asla drop edilmez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Streamlit Arayüzü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ECC71"/>
                </a:solidFill>
              </a:defRPr>
            </a:pPr>
            <a:r>
              <a:t>Neden Streamlit?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Python ekosistemiyle doğrudan entegre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SimPy kodunu ayrı bir API'ye sarma gerekmez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Slider, selectbox gibi widget'lar ile kolay parametre ayarı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Deploy etmesi kolay (Streamlit Cloud)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498DB"/>
                </a:solidFill>
              </a:defRPr>
            </a:pPr>
            <a:r>
              <a:t>Kullanıcı Kontrolleri: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Sunucu kapasitesi (1–10)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Kuyruk sınırı ayarlama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Paket geliş oranları (slider)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Simülasyon süresi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Seed değeri (tekrarlanabilirlik)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"Simülasyonu Başlat" butonu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Görselleştirmeler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Kuyruk Doluluk Grafiği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Zamana bağlı kuyruk dalgalanması + eşik çizgileri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Isı Haritası (Heatmap)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Paket türlerine göre zaman dilimlerindeki yoğunluk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Drop Oranı Pasta Grafiği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Her paket türünün toplam drop içindeki payı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Bekleme Süresi Bar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Öncelik mekanizmasının bekleme süresine etkisi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Paket Olay Akışı (Scatter)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394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DD"/>
                </a:solidFill>
              </a:defRPr>
            </a:pPr>
            <a:r>
              <a:t>Tüm paketlerin zaman çizelgesinde durumları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Simülasyon Sonuçları (Varsayılan Parametreler)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ECC71"/>
                </a:solidFill>
              </a:defRPr>
            </a:pPr>
            <a:r>
              <a:t>İşlenen Paketler: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Admin: Tümü işlendi, 0 drop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Normal: Büyük çoğunluğu işlendi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Şüpheli: ~%39 oranında drop edildi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498DB"/>
                </a:solidFill>
              </a:defRPr>
            </a:pPr>
            <a:r>
              <a:t>Temel Bulgular: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Öncelik mekanizması doğru çalışıyor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Admin paketleri sıfır kayıpla geçiyor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Katmanlı drop politikası etkili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Yoğun zamanlarda kuyruk eşikleri devrede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39C12"/>
                </a:solidFill>
              </a:defRPr>
            </a:pPr>
            <a:r>
              <a:t>Sonuç: Kritik trafik korunurken, düşük öncelikli</a:t>
            </a:r>
          </a:p>
          <a:p>
            <a:pPr>
              <a:spcAft>
                <a:spcPts val="800"/>
              </a:spcAft>
              <a:defRPr sz="2000">
                <a:solidFill>
                  <a:srgbClr val="F39C12"/>
                </a:solidFill>
              </a:defRPr>
            </a:pPr>
            <a:r>
              <a:t>şüpheli paketler kontrollü şekilde düşürülüyor.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Sınırlılıklar ve Gelecek Çalışmalar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74C3C"/>
                </a:solidFill>
              </a:defRPr>
            </a:pPr>
            <a:r>
              <a:t>Mevcut Sınırlılıklar: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Gerçek güvenlik duvarı derin paket inceleme yapar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IP itibar skoru gibi karmaşık mekanizmalar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Tek düğümlü basit topoloji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Sabit eşik değerleri (adaptif değil)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ECC71"/>
                </a:solidFill>
              </a:defRPr>
            </a:pPr>
            <a:r>
              <a:t>Gelecek Geliştirmeler: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Çoklu düğüm topolojisi (ns-3 entegrasyonu)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Dinamik eşik ayarlaması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Derin paket inceleme simülasyonu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Gerçek trafik verisi ile doğrulama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Dağıtık simülasyon desteği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Kaynakça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[1] SimPy Documentation — simpy.readthedocs.io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[2] Matloff, N. (2008). Introduction to Discrete-Event Simulation and the SimPy Language.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[3] Stallings, W. (2017). Network Security Essentials, 6th Edition, Pearson.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[4] Gross, D., Shortle, J.F., Thompson, J.M., Harris, C.M. (2008).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     Fundamentals of Queueing Theory, 4th Edition, Wiley.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[5] Streamlit Documentation — docs.streamlit.io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CCCCDD"/>
                </a:solidFill>
              </a:defRPr>
            </a:pPr>
            <a:r>
              <a:t>  [6] Plotly Python Documentation — plotly.com/python/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</a:defRPr>
            </a:pPr>
            <a: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BBBBCC"/>
                </a:solidFill>
              </a:defRPr>
            </a:pPr>
            <a:r>
              <a:t>Sorularınız için hazırız.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DD"/>
                </a:solidFill>
              </a:defRPr>
            </a:pPr>
            <a:r>
              <a:t>GitHub: github.com/emircanaltuntas/GateKeeper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